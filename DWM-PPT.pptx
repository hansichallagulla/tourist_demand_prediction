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2"/>
  </p:notesMasterIdLst>
  <p:sldIdLst>
    <p:sldId id="256" r:id="rId2"/>
    <p:sldId id="257" r:id="rId3"/>
    <p:sldId id="258" r:id="rId4"/>
    <p:sldId id="259" r:id="rId5"/>
    <p:sldId id="261" r:id="rId6"/>
    <p:sldId id="267" r:id="rId7"/>
    <p:sldId id="262" r:id="rId8"/>
    <p:sldId id="264" r:id="rId9"/>
    <p:sldId id="268"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535B9-8D29-7182-59E5-1A6C1D9AD677}" v="3" dt="2026-02-18T14:19:50.853"/>
    <p1510:client id="{2D04BBCD-D71B-876F-6CC5-2727D011F56B}" v="4" dt="2026-02-18T15:11:52.765"/>
    <p1510:client id="{5EC667C0-8249-DC77-E693-2439DCAC113E}" v="76" dt="2026-02-18T15:06:16.567"/>
    <p1510:client id="{ED3FE269-B295-014D-88A8-A122B0A3DAE3}" v="228" dt="2026-02-19T04:08:39.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92"/>
    <p:restoredTop sz="94725"/>
  </p:normalViewPr>
  <p:slideViewPr>
    <p:cSldViewPr snapToGrid="0">
      <p:cViewPr varScale="1">
        <p:scale>
          <a:sx n="113" d="100"/>
          <a:sy n="113"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A32D64-F370-7348-A89A-0843813FC196}" type="datetimeFigureOut">
              <a:rPr lang="en-US" smtClean="0"/>
              <a:t>4/24/26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1F4F3E-81E9-1A4C-B1AE-20528474789B}" type="slidenum">
              <a:rPr lang="en-US" smtClean="0"/>
              <a:t>‹#›</a:t>
            </a:fld>
            <a:endParaRPr lang="en-US"/>
          </a:p>
        </p:txBody>
      </p:sp>
    </p:spTree>
    <p:extLst>
      <p:ext uri="{BB962C8B-B14F-4D97-AF65-F5344CB8AC3E}">
        <p14:creationId xmlns:p14="http://schemas.microsoft.com/office/powerpoint/2010/main" val="54155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91F4F3E-81E9-1A4C-B1AE-20528474789B}" type="slidenum">
              <a:rPr lang="en-US" smtClean="0"/>
              <a:t>5</a:t>
            </a:fld>
            <a:endParaRPr lang="en-US"/>
          </a:p>
        </p:txBody>
      </p:sp>
    </p:spTree>
    <p:extLst>
      <p:ext uri="{BB962C8B-B14F-4D97-AF65-F5344CB8AC3E}">
        <p14:creationId xmlns:p14="http://schemas.microsoft.com/office/powerpoint/2010/main" val="1324717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C4F2-0692-1135-3ADA-2FA8FF726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EFF7C-9AD0-72D1-96B0-2A677B609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93236-33D7-18AF-939E-02069D3DF5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0769F-078A-6782-62F2-38FE5E57466C}"/>
              </a:ext>
            </a:extLst>
          </p:cNvPr>
          <p:cNvSpPr>
            <a:spLocks noGrp="1"/>
          </p:cNvSpPr>
          <p:nvPr>
            <p:ph type="sldNum" sz="quarter" idx="5"/>
          </p:nvPr>
        </p:nvSpPr>
        <p:spPr/>
        <p:txBody>
          <a:bodyPr/>
          <a:lstStyle/>
          <a:p>
            <a:fld id="{C91F4F3E-81E9-1A4C-B1AE-20528474789B}" type="slidenum">
              <a:rPr lang="en-US" smtClean="0"/>
              <a:t>6</a:t>
            </a:fld>
            <a:endParaRPr lang="en-US"/>
          </a:p>
        </p:txBody>
      </p:sp>
    </p:spTree>
    <p:extLst>
      <p:ext uri="{BB962C8B-B14F-4D97-AF65-F5344CB8AC3E}">
        <p14:creationId xmlns:p14="http://schemas.microsoft.com/office/powerpoint/2010/main" val="1618068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91F4F3E-81E9-1A4C-B1AE-20528474789B}" type="slidenum">
              <a:rPr lang="en-US" smtClean="0"/>
              <a:t>8</a:t>
            </a:fld>
            <a:endParaRPr lang="en-US"/>
          </a:p>
        </p:txBody>
      </p:sp>
    </p:spTree>
    <p:extLst>
      <p:ext uri="{BB962C8B-B14F-4D97-AF65-F5344CB8AC3E}">
        <p14:creationId xmlns:p14="http://schemas.microsoft.com/office/powerpoint/2010/main" val="1939944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F4F3E-81E9-1A4C-B1AE-20528474789B}" type="slidenum">
              <a:rPr lang="en-US" smtClean="0"/>
              <a:t>9</a:t>
            </a:fld>
            <a:endParaRPr lang="en-US"/>
          </a:p>
        </p:txBody>
      </p:sp>
    </p:spTree>
    <p:extLst>
      <p:ext uri="{BB962C8B-B14F-4D97-AF65-F5344CB8AC3E}">
        <p14:creationId xmlns:p14="http://schemas.microsoft.com/office/powerpoint/2010/main" val="3951090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095F7D3-BD44-B74B-A2EE-8A75BA33A091}"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1308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8255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95F7D3-BD44-B74B-A2EE-8A75BA33A091}"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1445492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95F7D3-BD44-B74B-A2EE-8A75BA33A091}"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2974211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95F7D3-BD44-B74B-A2EE-8A75BA33A091}" type="datetimeFigureOut">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250381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95F7D3-BD44-B74B-A2EE-8A75BA33A091}" type="datetimeFigureOut">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1072194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95F7D3-BD44-B74B-A2EE-8A75BA33A091}" type="datetimeFigureOut">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4099653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95F7D3-BD44-B74B-A2EE-8A75BA33A091}"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58261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95F7D3-BD44-B74B-A2EE-8A75BA33A091}"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42820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203924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95F7D3-BD44-B74B-A2EE-8A75BA33A091}"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3CE71-BDCA-9543-B958-48BCE46876C8}" type="slidenum">
              <a:rPr lang="en-US" smtClean="0"/>
              <a:t>‹#›</a:t>
            </a:fld>
            <a:endParaRPr lang="en-US"/>
          </a:p>
        </p:txBody>
      </p:sp>
    </p:spTree>
    <p:extLst>
      <p:ext uri="{BB962C8B-B14F-4D97-AF65-F5344CB8AC3E}">
        <p14:creationId xmlns:p14="http://schemas.microsoft.com/office/powerpoint/2010/main" val="306083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95F7D3-BD44-B74B-A2EE-8A75BA33A091}" type="datetimeFigureOut">
              <a:rPr lang="en-US" smtClean="0"/>
              <a:t>4/24/26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B3CE71-BDCA-9543-B958-48BCE46876C8}" type="slidenum">
              <a:rPr lang="en-US" smtClean="0"/>
              <a:t>‹#›</a:t>
            </a:fld>
            <a:endParaRPr lang="en-US"/>
          </a:p>
        </p:txBody>
      </p:sp>
    </p:spTree>
    <p:extLst>
      <p:ext uri="{BB962C8B-B14F-4D97-AF65-F5344CB8AC3E}">
        <p14:creationId xmlns:p14="http://schemas.microsoft.com/office/powerpoint/2010/main" val="51505225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science/article/abs/pii/S0160738325001641?utm_source=chatgpt.com" TargetMode="External"/><Relationship Id="rId7" Type="http://schemas.openxmlformats.org/officeDocument/2006/relationships/hyperlink" Target="https://www.researchgate.net/publication/381993806_Machine_learning_applied_to_tourism_A_systematic_review?utm_source=chatgpt.com" TargetMode="External"/><Relationship Id="rId2" Type="http://schemas.openxmlformats.org/officeDocument/2006/relationships/hyperlink" Target="https://www.mdpi.com/2079-8954/14/2/146"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2215016124001766?utm_source=chatgpt.com" TargetMode="External"/><Relationship Id="rId5" Type="http://schemas.openxmlformats.org/officeDocument/2006/relationships/hyperlink" Target="https://www.mdpi.com/2071-1050/17/5/2210?utm_source=chatgpt.com" TargetMode="External"/><Relationship Id="rId4" Type="http://schemas.openxmlformats.org/officeDocument/2006/relationships/hyperlink" Target="https://www.nature.com/articles/s41598-025-15286-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 name="Rectangle 1126">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Free Wallpaper, Tourist, Attractions Background Images, Cartoon Around The  World Background Picture Photo Background PNG and Vectors">
            <a:extLst>
              <a:ext uri="{FF2B5EF4-FFF2-40B4-BE49-F238E27FC236}">
                <a16:creationId xmlns:a16="http://schemas.microsoft.com/office/drawing/2014/main" id="{5CEDFE2F-8BD2-41DA-DD22-5FF24CEA4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743" r="-1" b="14274"/>
          <a:stretch>
            <a:fillRect/>
          </a:stretch>
        </p:blipFill>
        <p:spPr bwMode="auto">
          <a:xfrm>
            <a:off x="0" y="135239"/>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1128" name="Group 1127">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122" name="Freeform: Shape 112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129" name="Freeform: Shape 112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124" name="Freeform: Shape 112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130" name="Freeform: Shape 112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7CA3B6D7-EBEF-FA19-ACB1-52AC26575889}"/>
              </a:ext>
            </a:extLst>
          </p:cNvPr>
          <p:cNvSpPr>
            <a:spLocks noGrp="1"/>
          </p:cNvSpPr>
          <p:nvPr>
            <p:ph type="ctrTitle"/>
          </p:nvPr>
        </p:nvSpPr>
        <p:spPr>
          <a:xfrm>
            <a:off x="804672" y="4551037"/>
            <a:ext cx="6255034" cy="1509931"/>
          </a:xfrm>
        </p:spPr>
        <p:txBody>
          <a:bodyPr vert="horz" lIns="91440" tIns="45720" rIns="91440" bIns="45720" rtlCol="0" anchor="ctr">
            <a:normAutofit/>
          </a:bodyPr>
          <a:lstStyle/>
          <a:p>
            <a:pPr algn="l"/>
            <a:r>
              <a:rPr lang="en-US" sz="4000" b="1" i="0">
                <a:solidFill>
                  <a:schemeClr val="tx2"/>
                </a:solidFill>
                <a:effectLst/>
                <a:latin typeface="Times New Roman" panose="02020603050405020304" pitchFamily="18" charset="0"/>
                <a:cs typeface="Times New Roman" panose="02020603050405020304" pitchFamily="18" charset="0"/>
              </a:rPr>
              <a:t>Tourist Demand Prediction</a:t>
            </a:r>
            <a:endParaRPr lang="en-US" sz="4000">
              <a:solidFill>
                <a:schemeClr val="tx2"/>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0D4CF1C-349F-76CE-C5DE-5A939CB2CB75}"/>
              </a:ext>
            </a:extLst>
          </p:cNvPr>
          <p:cNvSpPr>
            <a:spLocks noGrp="1"/>
          </p:cNvSpPr>
          <p:nvPr>
            <p:ph type="subTitle" idx="1"/>
          </p:nvPr>
        </p:nvSpPr>
        <p:spPr>
          <a:xfrm>
            <a:off x="7783831" y="4389297"/>
            <a:ext cx="4587464" cy="2199762"/>
          </a:xfrm>
        </p:spPr>
        <p:txBody>
          <a:bodyPr vert="horz" lIns="91440" tIns="45720" rIns="91440" bIns="45720" rtlCol="0" anchor="ctr">
            <a:normAutofit/>
          </a:bodyPr>
          <a:lstStyle/>
          <a:p>
            <a:pPr algn="l"/>
            <a:r>
              <a:rPr lang="en-US" sz="1800" dirty="0">
                <a:solidFill>
                  <a:schemeClr val="tx2"/>
                </a:solidFill>
                <a:latin typeface="Times New Roman" panose="02020603050405020304" pitchFamily="18" charset="0"/>
                <a:cs typeface="Times New Roman" panose="02020603050405020304" pitchFamily="18" charset="0"/>
              </a:rPr>
              <a:t>2320030328  Deepika </a:t>
            </a:r>
            <a:r>
              <a:rPr lang="en-US" sz="1800" dirty="0" err="1">
                <a:solidFill>
                  <a:schemeClr val="tx2"/>
                </a:solidFill>
                <a:latin typeface="Times New Roman" panose="02020603050405020304" pitchFamily="18" charset="0"/>
                <a:cs typeface="Times New Roman" panose="02020603050405020304" pitchFamily="18" charset="0"/>
              </a:rPr>
              <a:t>Ketavarapu</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2320030331  </a:t>
            </a:r>
            <a:r>
              <a:rPr lang="en-US" sz="1800" dirty="0" err="1">
                <a:solidFill>
                  <a:schemeClr val="tx2"/>
                </a:solidFill>
                <a:latin typeface="Times New Roman" panose="02020603050405020304" pitchFamily="18" charset="0"/>
                <a:cs typeface="Times New Roman" panose="02020603050405020304" pitchFamily="18" charset="0"/>
              </a:rPr>
              <a:t>Hansi</a:t>
            </a:r>
            <a:r>
              <a:rPr lang="en-US" sz="1800" dirty="0">
                <a:solidFill>
                  <a:schemeClr val="tx2"/>
                </a:solidFill>
                <a:latin typeface="Times New Roman" panose="02020603050405020304" pitchFamily="18" charset="0"/>
                <a:cs typeface="Times New Roman" panose="02020603050405020304" pitchFamily="18" charset="0"/>
              </a:rPr>
              <a:t> </a:t>
            </a:r>
            <a:r>
              <a:rPr lang="en-US" sz="1800" dirty="0" err="1">
                <a:solidFill>
                  <a:schemeClr val="tx2"/>
                </a:solidFill>
                <a:latin typeface="Times New Roman" panose="02020603050405020304" pitchFamily="18" charset="0"/>
                <a:cs typeface="Times New Roman" panose="02020603050405020304" pitchFamily="18" charset="0"/>
              </a:rPr>
              <a:t>Challagulla</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2320030332  Vivek </a:t>
            </a:r>
            <a:r>
              <a:rPr lang="en-US" sz="1800" dirty="0" err="1">
                <a:solidFill>
                  <a:schemeClr val="tx2"/>
                </a:solidFill>
                <a:latin typeface="Times New Roman" panose="02020603050405020304" pitchFamily="18" charset="0"/>
                <a:cs typeface="Times New Roman" panose="02020603050405020304" pitchFamily="18" charset="0"/>
              </a:rPr>
              <a:t>Uppalapati</a:t>
            </a:r>
            <a:endParaRPr lang="en-US" sz="1800" dirty="0">
              <a:solidFill>
                <a:schemeClr val="tx2"/>
              </a:solidFill>
              <a:latin typeface="Times New Roman" panose="02020603050405020304" pitchFamily="18" charset="0"/>
              <a:cs typeface="Times New Roman" panose="02020603050405020304" pitchFamily="18" charset="0"/>
            </a:endParaRPr>
          </a:p>
          <a:p>
            <a:pPr algn="l"/>
            <a:r>
              <a:rPr lang="en-US" sz="1800" dirty="0">
                <a:solidFill>
                  <a:schemeClr val="tx2"/>
                </a:solidFill>
                <a:latin typeface="Times New Roman" panose="02020603050405020304" pitchFamily="18" charset="0"/>
                <a:cs typeface="Times New Roman" panose="02020603050405020304" pitchFamily="18" charset="0"/>
              </a:rPr>
              <a:t>2320030377  Akshara Budha</a:t>
            </a:r>
          </a:p>
          <a:p>
            <a:pPr algn="l"/>
            <a:r>
              <a:rPr lang="en-US" sz="1800" dirty="0">
                <a:solidFill>
                  <a:schemeClr val="tx2"/>
                </a:solidFill>
                <a:latin typeface="Times New Roman" panose="02020603050405020304" pitchFamily="18" charset="0"/>
                <a:cs typeface="Times New Roman" panose="02020603050405020304" pitchFamily="18" charset="0"/>
              </a:rPr>
              <a:t>Guide : Dr. </a:t>
            </a:r>
            <a:r>
              <a:rPr lang="en-US" sz="1800">
                <a:solidFill>
                  <a:schemeClr val="tx2"/>
                </a:solidFill>
                <a:latin typeface="Times New Roman" panose="02020603050405020304" pitchFamily="18" charset="0"/>
                <a:cs typeface="Times New Roman" panose="02020603050405020304" pitchFamily="18" charset="0"/>
              </a:rPr>
              <a:t>P </a:t>
            </a:r>
            <a:r>
              <a:rPr lang="en-US" sz="1800" dirty="0">
                <a:solidFill>
                  <a:schemeClr val="tx2"/>
                </a:solidFill>
                <a:latin typeface="Times New Roman" panose="02020603050405020304" pitchFamily="18" charset="0"/>
                <a:cs typeface="Times New Roman" panose="02020603050405020304" pitchFamily="18" charset="0"/>
              </a:rPr>
              <a:t>Krishna Kishore</a:t>
            </a:r>
          </a:p>
        </p:txBody>
      </p:sp>
    </p:spTree>
    <p:extLst>
      <p:ext uri="{BB962C8B-B14F-4D97-AF65-F5344CB8AC3E}">
        <p14:creationId xmlns:p14="http://schemas.microsoft.com/office/powerpoint/2010/main" val="1488608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C74709-556A-3DD8-507B-320C44C12EBC}"/>
              </a:ext>
            </a:extLst>
          </p:cNvPr>
          <p:cNvSpPr>
            <a:spLocks noGrp="1"/>
          </p:cNvSpPr>
          <p:nvPr>
            <p:ph type="title"/>
          </p:nvPr>
        </p:nvSpPr>
        <p:spPr>
          <a:xfrm>
            <a:off x="838200" y="365125"/>
            <a:ext cx="10515600" cy="1325563"/>
          </a:xfrm>
        </p:spPr>
        <p:txBody>
          <a:bodyPr>
            <a:normAutofit/>
          </a:bodyPr>
          <a:lstStyle/>
          <a:p>
            <a:r>
              <a:rPr lang="en-US" sz="5400">
                <a:latin typeface="-webkit-standard"/>
              </a:rPr>
              <a:t> </a:t>
            </a:r>
            <a:r>
              <a:rPr lang="en-US" sz="5400" b="0" i="0" u="none" strike="noStrike">
                <a:effectLst/>
                <a:latin typeface="Times New Roman" panose="02020603050405020304" pitchFamily="18" charset="0"/>
                <a:cs typeface="Times New Roman" panose="02020603050405020304" pitchFamily="18" charset="0"/>
              </a:rPr>
              <a:t>Introduction &amp; Motivation</a:t>
            </a:r>
            <a:endParaRPr lang="en-US" sz="5400">
              <a:latin typeface="Times New Roman" panose="02020603050405020304" pitchFamily="18" charset="0"/>
              <a:cs typeface="Times New Roman" panose="02020603050405020304" pitchFamily="18" charset="0"/>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04D0B1D-5F1E-BA59-0FBF-0782C3D31308}"/>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200" b="1" i="0" dirty="0">
                <a:effectLst/>
                <a:latin typeface="Times New Roman" panose="02020603050405020304" pitchFamily="18" charset="0"/>
                <a:cs typeface="Times New Roman" panose="02020603050405020304" pitchFamily="18" charset="0"/>
              </a:rPr>
              <a:t>    Problem Statement</a:t>
            </a:r>
          </a:p>
          <a:p>
            <a:r>
              <a:rPr lang="en-US" sz="2200" b="0" i="0" dirty="0">
                <a:effectLst/>
                <a:latin typeface="Times New Roman"/>
                <a:cs typeface="Times New Roman"/>
              </a:rPr>
              <a:t>Tourism demand fluctuates due to seasonal changes, trends, and external factors, making it difficult to accurately predict visitor arrivals. Poor demand forecasting leads to overcrowding, inefficient resource utilization, and reduced service quality, affecting both revenue and tourist experience.</a:t>
            </a:r>
          </a:p>
          <a:p>
            <a:endParaRPr lang="en-US" sz="2200" b="0" i="0" dirty="0">
              <a:effectLst/>
              <a:latin typeface="Times New Roman" panose="02020603050405020304" pitchFamily="18" charset="0"/>
              <a:cs typeface="Times New Roman" panose="02020603050405020304" pitchFamily="18" charset="0"/>
            </a:endParaRPr>
          </a:p>
          <a:p>
            <a:pPr marL="0" indent="0">
              <a:buNone/>
            </a:pPr>
            <a:r>
              <a:rPr lang="en-US" sz="2200" b="1" i="0" dirty="0">
                <a:effectLst/>
                <a:latin typeface="Times New Roman" panose="02020603050405020304" pitchFamily="18" charset="0"/>
                <a:cs typeface="Times New Roman" panose="02020603050405020304" pitchFamily="18" charset="0"/>
              </a:rPr>
              <a:t>   Why This Project is Needed</a:t>
            </a:r>
          </a:p>
          <a:p>
            <a:pPr>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To analyze historical tourism data.</a:t>
            </a:r>
          </a:p>
          <a:p>
            <a:pPr>
              <a:buFont typeface="Arial" panose="020B0604020202020204" pitchFamily="34" charset="0"/>
              <a:buChar char="•"/>
            </a:pPr>
            <a:r>
              <a:rPr lang="en-US" sz="2200" b="0" i="0" dirty="0">
                <a:effectLst/>
                <a:latin typeface="Times New Roman"/>
                <a:cs typeface="Times New Roman"/>
              </a:rPr>
              <a:t>To identify seasonal trends and visitor patterns.</a:t>
            </a:r>
          </a:p>
          <a:p>
            <a:pPr>
              <a:buFont typeface="Arial" panose="020B0604020202020204" pitchFamily="34" charset="0"/>
              <a:buChar char="•"/>
            </a:pPr>
            <a:r>
              <a:rPr lang="en-US" sz="2200" b="0" i="0" dirty="0">
                <a:effectLst/>
                <a:latin typeface="Times New Roman"/>
                <a:cs typeface="Times New Roman"/>
              </a:rPr>
              <a:t>To improve accuracy of demand </a:t>
            </a:r>
            <a:r>
              <a:rPr lang="en-US" sz="2200" dirty="0">
                <a:latin typeface="Times New Roman"/>
                <a:cs typeface="Times New Roman"/>
              </a:rPr>
              <a:t>prediction</a:t>
            </a:r>
            <a:endParaRPr lang="en-US" sz="2200" b="0" i="0" dirty="0">
              <a:effectLst/>
              <a:latin typeface="Times New Roman" panose="02020603050405020304" pitchFamily="18"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238952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8E14D-5314-0314-A0D6-D65186EDE5BC}"/>
              </a:ext>
            </a:extLst>
          </p:cNvPr>
          <p:cNvSpPr>
            <a:spLocks noGrp="1"/>
          </p:cNvSpPr>
          <p:nvPr>
            <p:ph type="title"/>
          </p:nvPr>
        </p:nvSpPr>
        <p:spPr>
          <a:xfrm>
            <a:off x="838200" y="365125"/>
            <a:ext cx="10515600" cy="1325563"/>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Objectives</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CD47E79A-698C-59B4-F6CF-5A2280A0E8B3}"/>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b="1" i="0">
                <a:effectLst/>
                <a:latin typeface="Times New Roman" panose="02020603050405020304" pitchFamily="18" charset="0"/>
                <a:cs typeface="Times New Roman" panose="02020603050405020304" pitchFamily="18" charset="0"/>
              </a:rPr>
              <a:t>   Primary Objective</a:t>
            </a:r>
          </a:p>
          <a:p>
            <a:r>
              <a:rPr lang="en-US" sz="2200" b="0" i="0">
                <a:effectLst/>
                <a:latin typeface="Times New Roman"/>
                <a:cs typeface="Times New Roman"/>
              </a:rPr>
              <a:t>Analyze tourist</a:t>
            </a:r>
            <a:r>
              <a:rPr lang="en-US" sz="2200">
                <a:latin typeface="Times New Roman"/>
                <a:cs typeface="Times New Roman"/>
              </a:rPr>
              <a:t> patterns</a:t>
            </a:r>
            <a:r>
              <a:rPr lang="en-US" sz="2200" b="0" i="0">
                <a:effectLst/>
                <a:latin typeface="Times New Roman"/>
                <a:cs typeface="Times New Roman"/>
              </a:rPr>
              <a:t> and forecast future demand.</a:t>
            </a:r>
          </a:p>
          <a:p>
            <a:pPr marL="0" indent="0">
              <a:buNone/>
            </a:pPr>
            <a:endParaRPr lang="en-US" sz="2200" b="0" i="0">
              <a:effectLst/>
              <a:latin typeface="Times New Roman" panose="02020603050405020304" pitchFamily="18" charset="0"/>
              <a:cs typeface="Times New Roman" panose="02020603050405020304" pitchFamily="18" charset="0"/>
            </a:endParaRPr>
          </a:p>
          <a:p>
            <a:pPr marL="0" indent="0">
              <a:buNone/>
            </a:pPr>
            <a:r>
              <a:rPr lang="en-US" sz="2200" b="1" i="0">
                <a:effectLst/>
                <a:latin typeface="Times New Roman" panose="02020603050405020304" pitchFamily="18" charset="0"/>
                <a:cs typeface="Times New Roman" panose="02020603050405020304" pitchFamily="18" charset="0"/>
              </a:rPr>
              <a:t>   Specific Objectives</a:t>
            </a:r>
          </a:p>
          <a:p>
            <a:pPr>
              <a:buFont typeface="Arial" panose="020B0604020202020204" pitchFamily="34" charset="0"/>
              <a:buChar char="•"/>
            </a:pPr>
            <a:r>
              <a:rPr lang="en-US" sz="2200" b="0" i="0">
                <a:effectLst/>
                <a:latin typeface="Times New Roman"/>
                <a:cs typeface="Times New Roman"/>
              </a:rPr>
              <a:t>Identify seasonal tourism patterns.</a:t>
            </a:r>
          </a:p>
          <a:p>
            <a:pPr>
              <a:buFont typeface="Arial" panose="020B0604020202020204" pitchFamily="34" charset="0"/>
              <a:buChar char="•"/>
            </a:pPr>
            <a:r>
              <a:rPr lang="en-US" sz="2200" b="0" i="0">
                <a:effectLst/>
                <a:latin typeface="Times New Roman"/>
                <a:cs typeface="Times New Roman"/>
              </a:rPr>
              <a:t>Group tourists based on travel </a:t>
            </a:r>
            <a:r>
              <a:rPr lang="en-US" sz="2200">
                <a:latin typeface="Times New Roman"/>
                <a:cs typeface="Times New Roman"/>
              </a:rPr>
              <a:t>patterns</a:t>
            </a:r>
            <a:r>
              <a:rPr lang="en-US" sz="2200" b="0" i="0">
                <a:effectLst/>
                <a:latin typeface="Times New Roman"/>
                <a:cs typeface="Times New Roman"/>
              </a:rPr>
              <a:t>.</a:t>
            </a:r>
          </a:p>
          <a:p>
            <a:pPr>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Classify tourists and destinations.</a:t>
            </a:r>
          </a:p>
          <a:p>
            <a:pPr>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Predict future visitor arrivals using regression models.</a:t>
            </a:r>
          </a:p>
          <a:p>
            <a:endParaRPr lang="en-US" sz="2200"/>
          </a:p>
        </p:txBody>
      </p:sp>
    </p:spTree>
    <p:extLst>
      <p:ext uri="{BB962C8B-B14F-4D97-AF65-F5344CB8AC3E}">
        <p14:creationId xmlns:p14="http://schemas.microsoft.com/office/powerpoint/2010/main" val="1467377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A9B58-6C1B-9C9E-B6A4-BD6AF347F8D4}"/>
              </a:ext>
            </a:extLst>
          </p:cNvPr>
          <p:cNvSpPr>
            <a:spLocks noGrp="1"/>
          </p:cNvSpPr>
          <p:nvPr>
            <p:ph type="title"/>
          </p:nvPr>
        </p:nvSpPr>
        <p:spPr>
          <a:xfrm>
            <a:off x="841248" y="548640"/>
            <a:ext cx="3600860" cy="5431536"/>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Literature Survey</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A9C477-26F6-F8EC-4577-6F54F8D6F444}"/>
              </a:ext>
            </a:extLst>
          </p:cNvPr>
          <p:cNvSpPr>
            <a:spLocks noGrp="1"/>
          </p:cNvSpPr>
          <p:nvPr>
            <p:ph idx="1"/>
          </p:nvPr>
        </p:nvSpPr>
        <p:spPr>
          <a:xfrm>
            <a:off x="5126418" y="552090"/>
            <a:ext cx="6224335" cy="5848709"/>
          </a:xfrm>
        </p:spPr>
        <p:txBody>
          <a:bodyPr anchor="ctr">
            <a:normAutofit/>
          </a:bodyPr>
          <a:lstStyle/>
          <a:p>
            <a:pPr marL="0" indent="0" algn="l">
              <a:buNone/>
            </a:pPr>
            <a:r>
              <a:rPr lang="en-US" sz="2000" b="1" i="0">
                <a:effectLst/>
              </a:rPr>
              <a:t>     </a:t>
            </a:r>
            <a:r>
              <a:rPr lang="en-US" sz="2000" b="1" i="0">
                <a:effectLst/>
                <a:latin typeface="Times New Roman" panose="02020603050405020304" pitchFamily="18" charset="0"/>
                <a:cs typeface="Times New Roman" panose="02020603050405020304" pitchFamily="18" charset="0"/>
              </a:rPr>
              <a:t>Existing Solutions &amp; Identified Gaps</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Many studies rely on advanced deep learning models that are complex and computationally expensive.</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Most approaches focus primarily on demand forecasting, without analyzing tourist travel patterns in detail.</a:t>
            </a:r>
          </a:p>
          <a:p>
            <a:pPr algn="l">
              <a:buFont typeface="Arial" panose="020B0604020202020204" pitchFamily="34" charset="0"/>
              <a:buChar char="•"/>
            </a:pPr>
            <a:r>
              <a:rPr lang="en-US" sz="2000" b="0" i="0">
                <a:effectLst/>
                <a:latin typeface="Times New Roman" panose="02020603050405020304" pitchFamily="18" charset="0"/>
                <a:cs typeface="Times New Roman" panose="02020603050405020304" pitchFamily="18" charset="0"/>
              </a:rPr>
              <a:t>Existing systems often adopt single-model strategies, lacking integration of clustering, classification, and regression techniques within a unified framework.</a:t>
            </a:r>
          </a:p>
          <a:p>
            <a:pPr marL="0" indent="0">
              <a:buNone/>
            </a:pPr>
            <a:endParaRPr lang="en-US" sz="2200"/>
          </a:p>
        </p:txBody>
      </p:sp>
    </p:spTree>
    <p:extLst>
      <p:ext uri="{BB962C8B-B14F-4D97-AF65-F5344CB8AC3E}">
        <p14:creationId xmlns:p14="http://schemas.microsoft.com/office/powerpoint/2010/main" val="223641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A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4FD13B-FD7C-D67A-5B89-7E01D303A83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b="1" kern="1200" dirty="0">
                <a:solidFill>
                  <a:srgbClr val="FFFFFF"/>
                </a:solidFill>
                <a:latin typeface="Times New Roman" panose="02020603050405020304" pitchFamily="18" charset="0"/>
                <a:cs typeface="Times New Roman" panose="02020603050405020304" pitchFamily="18" charset="0"/>
              </a:rPr>
              <a:t>Proposed Methodology</a:t>
            </a:r>
          </a:p>
        </p:txBody>
      </p:sp>
      <p:pic>
        <p:nvPicPr>
          <p:cNvPr id="6" name="Content Placeholder 5" descr="A diagram of a diagram&#10;&#10;Description automatically generated">
            <a:extLst>
              <a:ext uri="{FF2B5EF4-FFF2-40B4-BE49-F238E27FC236}">
                <a16:creationId xmlns:a16="http://schemas.microsoft.com/office/drawing/2014/main" id="{EA6E5DAA-47F0-DEC9-D2A0-DC624B87DC94}"/>
              </a:ext>
            </a:extLst>
          </p:cNvPr>
          <p:cNvPicPr>
            <a:picLocks noGrp="1" noChangeAspect="1"/>
          </p:cNvPicPr>
          <p:nvPr>
            <p:ph idx="1"/>
          </p:nvPr>
        </p:nvPicPr>
        <p:blipFill>
          <a:blip r:embed="rId3"/>
          <a:stretch>
            <a:fillRect/>
          </a:stretch>
        </p:blipFill>
        <p:spPr>
          <a:xfrm>
            <a:off x="3635022" y="417689"/>
            <a:ext cx="7916898" cy="5779911"/>
          </a:xfrm>
        </p:spPr>
      </p:pic>
    </p:spTree>
    <p:extLst>
      <p:ext uri="{BB962C8B-B14F-4D97-AF65-F5344CB8AC3E}">
        <p14:creationId xmlns:p14="http://schemas.microsoft.com/office/powerpoint/2010/main" val="1007549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333EB8-8FD0-CB01-6899-861C03AFC0A3}"/>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82B9D2E3-29D8-873D-9F9C-8B5ACD47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0405987-6FEF-9846-B2F3-C49737EE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A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1C0E7C-C476-AA76-DFF2-A2454CD5541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b="1" dirty="0">
                <a:solidFill>
                  <a:srgbClr val="FFFFFF"/>
                </a:solidFill>
                <a:latin typeface="Times New Roman" panose="02020603050405020304" pitchFamily="18" charset="0"/>
                <a:cs typeface="Times New Roman" panose="02020603050405020304" pitchFamily="18" charset="0"/>
              </a:rPr>
              <a:t>Implementation Steps</a:t>
            </a:r>
            <a:endParaRPr lang="en-US" sz="2000" b="1" kern="1200" dirty="0">
              <a:solidFill>
                <a:srgbClr val="FFFFFF"/>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FF5DD3-BBAC-536B-CD09-1EF1FB08D160}"/>
              </a:ext>
            </a:extLst>
          </p:cNvPr>
          <p:cNvPicPr>
            <a:picLocks noChangeAspect="1"/>
          </p:cNvPicPr>
          <p:nvPr/>
        </p:nvPicPr>
        <p:blipFill>
          <a:blip r:embed="rId3"/>
          <a:stretch>
            <a:fillRect/>
          </a:stretch>
        </p:blipFill>
        <p:spPr>
          <a:xfrm>
            <a:off x="4032514" y="355945"/>
            <a:ext cx="7307714" cy="6146109"/>
          </a:xfrm>
          <a:prstGeom prst="rect">
            <a:avLst/>
          </a:prstGeom>
        </p:spPr>
      </p:pic>
    </p:spTree>
    <p:extLst>
      <p:ext uri="{BB962C8B-B14F-4D97-AF65-F5344CB8AC3E}">
        <p14:creationId xmlns:p14="http://schemas.microsoft.com/office/powerpoint/2010/main" val="317812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816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427A6-AD2E-A748-FDAC-03EB9FFBAE8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0" i="0" u="none" strike="noStrike" kern="1200">
                <a:solidFill>
                  <a:srgbClr val="FFFFFF"/>
                </a:solidFill>
                <a:effectLst/>
                <a:latin typeface="Times New Roman" panose="02020603050405020304" pitchFamily="18" charset="0"/>
                <a:cs typeface="Times New Roman" panose="02020603050405020304" pitchFamily="18" charset="0"/>
              </a:rPr>
              <a:t>Expected Results &amp; Deliverables</a:t>
            </a:r>
            <a:endParaRPr lang="en-US" sz="2600" kern="1200">
              <a:solidFill>
                <a:srgbClr val="FFFFFF"/>
              </a:solidFill>
              <a:latin typeface="Times New Roman" panose="02020603050405020304" pitchFamily="18" charset="0"/>
              <a:cs typeface="Times New Roman" panose="02020603050405020304" pitchFamily="18" charset="0"/>
            </a:endParaRPr>
          </a:p>
        </p:txBody>
      </p:sp>
      <p:pic>
        <p:nvPicPr>
          <p:cNvPr id="21" name="Content Placeholder 20" descr="A screenshot of a phone&#10;&#10;Description automatically generated">
            <a:extLst>
              <a:ext uri="{FF2B5EF4-FFF2-40B4-BE49-F238E27FC236}">
                <a16:creationId xmlns:a16="http://schemas.microsoft.com/office/drawing/2014/main" id="{0CD4B5A1-2973-30DB-26FD-99C92BC7FA2F}"/>
              </a:ext>
            </a:extLst>
          </p:cNvPr>
          <p:cNvPicPr>
            <a:picLocks noGrp="1" noChangeAspect="1"/>
          </p:cNvPicPr>
          <p:nvPr>
            <p:ph idx="1"/>
          </p:nvPr>
        </p:nvPicPr>
        <p:blipFill>
          <a:blip r:embed="rId2"/>
          <a:stretch>
            <a:fillRect/>
          </a:stretch>
        </p:blipFill>
        <p:spPr>
          <a:xfrm>
            <a:off x="3543300" y="902970"/>
            <a:ext cx="8272040" cy="4994909"/>
          </a:xfrm>
        </p:spPr>
      </p:pic>
    </p:spTree>
    <p:extLst>
      <p:ext uri="{BB962C8B-B14F-4D97-AF65-F5344CB8AC3E}">
        <p14:creationId xmlns:p14="http://schemas.microsoft.com/office/powerpoint/2010/main" val="4130186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E6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CBD8FF-4990-985C-1353-CEE1C77CE2F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Times New Roman" panose="02020603050405020304" pitchFamily="18" charset="0"/>
                <a:cs typeface="Times New Roman" panose="02020603050405020304" pitchFamily="18" charset="0"/>
              </a:rPr>
              <a:t>Timeline</a:t>
            </a:r>
          </a:p>
        </p:txBody>
      </p:sp>
      <p:pic>
        <p:nvPicPr>
          <p:cNvPr id="7" name="Content Placeholder 6" descr="A diagram of a timeline&#10;&#10;Description automatically generated">
            <a:extLst>
              <a:ext uri="{FF2B5EF4-FFF2-40B4-BE49-F238E27FC236}">
                <a16:creationId xmlns:a16="http://schemas.microsoft.com/office/drawing/2014/main" id="{964EC84F-CF9E-77D3-7822-3AF17B75664E}"/>
              </a:ext>
            </a:extLst>
          </p:cNvPr>
          <p:cNvPicPr>
            <a:picLocks noGrp="1" noChangeAspect="1"/>
          </p:cNvPicPr>
          <p:nvPr>
            <p:ph idx="1"/>
          </p:nvPr>
        </p:nvPicPr>
        <p:blipFill>
          <a:blip r:embed="rId3"/>
          <a:stretch>
            <a:fillRect/>
          </a:stretch>
        </p:blipFill>
        <p:spPr>
          <a:xfrm>
            <a:off x="3578579" y="228600"/>
            <a:ext cx="8308622" cy="6251222"/>
          </a:xfrm>
        </p:spPr>
      </p:pic>
    </p:spTree>
    <p:extLst>
      <p:ext uri="{BB962C8B-B14F-4D97-AF65-F5344CB8AC3E}">
        <p14:creationId xmlns:p14="http://schemas.microsoft.com/office/powerpoint/2010/main" val="197539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F3B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B426AF-7D49-6C65-C206-063BD701F0F7}"/>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OUTPUT</a:t>
            </a:r>
          </a:p>
        </p:txBody>
      </p:sp>
      <p:pic>
        <p:nvPicPr>
          <p:cNvPr id="5" name="Content Placeholder 4" descr="A screenshot of a computer&#10;&#10;Description automatically generated">
            <a:extLst>
              <a:ext uri="{FF2B5EF4-FFF2-40B4-BE49-F238E27FC236}">
                <a16:creationId xmlns:a16="http://schemas.microsoft.com/office/drawing/2014/main" id="{6161119C-22EB-B2AE-D7C0-D4A3B7547BDF}"/>
              </a:ext>
            </a:extLst>
          </p:cNvPr>
          <p:cNvPicPr>
            <a:picLocks noGrp="1" noChangeAspect="1"/>
          </p:cNvPicPr>
          <p:nvPr>
            <p:ph idx="1"/>
          </p:nvPr>
        </p:nvPicPr>
        <p:blipFill>
          <a:blip r:embed="rId3"/>
          <a:stretch>
            <a:fillRect/>
          </a:stretch>
        </p:blipFill>
        <p:spPr>
          <a:xfrm>
            <a:off x="3629891" y="318655"/>
            <a:ext cx="8215745" cy="6206835"/>
          </a:xfrm>
          <a:prstGeom prst="rect">
            <a:avLst/>
          </a:prstGeom>
        </p:spPr>
      </p:pic>
    </p:spTree>
    <p:extLst>
      <p:ext uri="{BB962C8B-B14F-4D97-AF65-F5344CB8AC3E}">
        <p14:creationId xmlns:p14="http://schemas.microsoft.com/office/powerpoint/2010/main" val="1122566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63B9A-18E7-F401-919C-D5D6500F6847}"/>
              </a:ext>
            </a:extLst>
          </p:cNvPr>
          <p:cNvSpPr>
            <a:spLocks noGrp="1"/>
          </p:cNvSpPr>
          <p:nvPr>
            <p:ph type="title"/>
          </p:nvPr>
        </p:nvSpPr>
        <p:spPr>
          <a:xfrm>
            <a:off x="838200" y="365125"/>
            <a:ext cx="10515600" cy="1325563"/>
          </a:xfrm>
        </p:spPr>
        <p:txBody>
          <a:bodyPr>
            <a:normAutofit/>
          </a:bodyPr>
          <a:lstStyle/>
          <a:p>
            <a:r>
              <a:rPr lang="en-US" sz="5400" b="0" i="0" u="none" strike="noStrike">
                <a:effectLst/>
                <a:latin typeface="Times New Roman" panose="02020603050405020304" pitchFamily="18" charset="0"/>
                <a:cs typeface="Times New Roman" panose="02020603050405020304" pitchFamily="18" charset="0"/>
              </a:rPr>
              <a:t>References</a:t>
            </a:r>
            <a:endParaRPr lang="en-US" sz="5400">
              <a:latin typeface="Times New Roman" panose="02020603050405020304" pitchFamily="18" charset="0"/>
              <a:cs typeface="Times New Roman" panose="02020603050405020304" pitchFamily="18"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72E1FF-3DF0-67BD-4509-1D03175C8E40}"/>
              </a:ext>
            </a:extLst>
          </p:cNvPr>
          <p:cNvSpPr>
            <a:spLocks noGrp="1"/>
          </p:cNvSpPr>
          <p:nvPr>
            <p:ph idx="1"/>
          </p:nvPr>
        </p:nvSpPr>
        <p:spPr>
          <a:xfrm>
            <a:off x="838200" y="1929384"/>
            <a:ext cx="10515600" cy="4251960"/>
          </a:xfrm>
        </p:spPr>
        <p:txBody>
          <a:bodyPr>
            <a:normAutofit fontScale="92500" lnSpcReduction="10000"/>
          </a:bodyPr>
          <a:lstStyle/>
          <a:p>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Hou, H. et al. (2026)</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Research on interpretable tourism demand forecasting with multi-source data</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https://www.mdpi.com/2079-8954/14/2/146</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Qin, F. et al.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Tourism demand forecasting using social media data: a deep learning–based ensemble model</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https://www.sciencedirect.com/science/article/abs/pii/S0160738325001641</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Yi, S., Chen, X., &amp; Tang, C.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Time series transformer for tourism demand forecasting (</a:t>
            </a:r>
            <a:r>
              <a:rPr lang="en-US" sz="1800" b="0" i="1" err="1">
                <a:effectLst/>
                <a:latin typeface="Times New Roman" panose="02020603050405020304" pitchFamily="18" charset="0"/>
                <a:cs typeface="Times New Roman" panose="02020603050405020304" pitchFamily="18" charset="0"/>
              </a:rPr>
              <a:t>Tsformer</a:t>
            </a:r>
            <a:r>
              <a:rPr lang="en-US" sz="1800" b="0" i="1">
                <a:effectLst/>
                <a:latin typeface="Times New Roman" panose="02020603050405020304" pitchFamily="18" charset="0"/>
                <a:cs typeface="Times New Roman" panose="02020603050405020304" pitchFamily="18" charset="0"/>
              </a:rPr>
              <a:t>)</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https://www.nature.com/articles/s41598-025-15286-0</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Zhang, Y. (2025)</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Tourism demand forecasting based on a hybrid </a:t>
            </a:r>
            <a:r>
              <a:rPr lang="en-US" sz="1800" b="0" i="1" err="1">
                <a:effectLst/>
                <a:latin typeface="Times New Roman" panose="02020603050405020304" pitchFamily="18" charset="0"/>
                <a:cs typeface="Times New Roman" panose="02020603050405020304" pitchFamily="18" charset="0"/>
              </a:rPr>
              <a:t>BiLSTM</a:t>
            </a:r>
            <a:r>
              <a:rPr lang="en-US" sz="1800" b="0" i="1">
                <a:effectLst/>
                <a:latin typeface="Times New Roman" panose="02020603050405020304" pitchFamily="18" charset="0"/>
                <a:cs typeface="Times New Roman" panose="02020603050405020304" pitchFamily="18" charset="0"/>
              </a:rPr>
              <a:t>-Transformer model</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https://www.mdpi.com/2071-1050/17/5/2210</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Devi, R. et al. (2024)</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Forecasting of Indian tourism industry using time-series modeling and regression analysis</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https://www.sciencedirect.com/science/article/pii/S2215016124001766</a:t>
            </a:r>
            <a:endParaRPr lang="en-US" sz="1800" b="0" i="0">
              <a:effectLst/>
              <a:latin typeface="Times New Roman" panose="02020603050405020304" pitchFamily="18" charset="0"/>
              <a:cs typeface="Times New Roman" panose="02020603050405020304" pitchFamily="18" charset="0"/>
            </a:endParaRPr>
          </a:p>
          <a:p>
            <a:pPr>
              <a:buFont typeface="+mj-lt"/>
              <a:buAutoNum type="arabicPeriod"/>
            </a:pPr>
            <a:r>
              <a:rPr lang="en-US" sz="1800" b="1" i="0">
                <a:effectLst/>
                <a:latin typeface="Times New Roman" panose="02020603050405020304" pitchFamily="18" charset="0"/>
                <a:cs typeface="Times New Roman" panose="02020603050405020304" pitchFamily="18" charset="0"/>
              </a:rPr>
              <a:t>Sancho </a:t>
            </a:r>
            <a:r>
              <a:rPr lang="en-US" sz="1800" b="1" i="0" err="1">
                <a:effectLst/>
                <a:latin typeface="Times New Roman" panose="02020603050405020304" pitchFamily="18" charset="0"/>
                <a:cs typeface="Times New Roman" panose="02020603050405020304" pitchFamily="18" charset="0"/>
              </a:rPr>
              <a:t>Núñez</a:t>
            </a:r>
            <a:r>
              <a:rPr lang="en-US" sz="1800" b="1" i="0">
                <a:effectLst/>
                <a:latin typeface="Times New Roman" panose="02020603050405020304" pitchFamily="18" charset="0"/>
                <a:cs typeface="Times New Roman" panose="02020603050405020304" pitchFamily="18" charset="0"/>
              </a:rPr>
              <a:t>, J. C. et al. (2024)</a:t>
            </a:r>
            <a:r>
              <a:rPr lang="en-US" sz="1800" b="0" i="0">
                <a:effectLst/>
                <a:latin typeface="Times New Roman" panose="02020603050405020304" pitchFamily="18" charset="0"/>
                <a:cs typeface="Times New Roman" panose="02020603050405020304" pitchFamily="18" charset="0"/>
              </a:rPr>
              <a:t> – </a:t>
            </a:r>
            <a:r>
              <a:rPr lang="en-US" sz="1800" b="0" i="1">
                <a:effectLst/>
                <a:latin typeface="Times New Roman" panose="02020603050405020304" pitchFamily="18" charset="0"/>
                <a:cs typeface="Times New Roman" panose="02020603050405020304" pitchFamily="18" charset="0"/>
              </a:rPr>
              <a:t>Machine learning applied to tourism: Systematic review covering forecasting and analytics</a:t>
            </a:r>
            <a:r>
              <a:rPr lang="en-US" sz="1800" b="0" i="0">
                <a:effectLst/>
                <a:latin typeface="Times New Roman" panose="02020603050405020304" pitchFamily="18" charset="0"/>
                <a:cs typeface="Times New Roman" panose="02020603050405020304" pitchFamily="18" charset="0"/>
              </a:rPr>
              <a:t>.</a:t>
            </a:r>
            <a:br>
              <a:rPr lang="en-US" sz="1800" b="0" i="0">
                <a:effectLst/>
                <a:latin typeface="Times New Roman" panose="02020603050405020304" pitchFamily="18" charset="0"/>
                <a:cs typeface="Times New Roman" panose="02020603050405020304" pitchFamily="18" charset="0"/>
              </a:rPr>
            </a:br>
            <a:r>
              <a:rPr lang="en-US" sz="1800" b="0" i="0">
                <a:effectLst/>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https://www.researchgate.net/publication/381993806_Machine_learning_applied_to_tourism_A_systematic_review</a:t>
            </a:r>
            <a:endParaRPr lang="en-US" sz="1800" b="0" i="0">
              <a:effectLst/>
              <a:latin typeface="Times New Roman" panose="02020603050405020304" pitchFamily="18" charset="0"/>
              <a:cs typeface="Times New Roman" panose="02020603050405020304" pitchFamily="18" charset="0"/>
            </a:endParaRPr>
          </a:p>
          <a:p>
            <a:endParaRPr lang="en-US" sz="1500"/>
          </a:p>
        </p:txBody>
      </p:sp>
    </p:spTree>
    <p:extLst>
      <p:ext uri="{BB962C8B-B14F-4D97-AF65-F5344CB8AC3E}">
        <p14:creationId xmlns:p14="http://schemas.microsoft.com/office/powerpoint/2010/main" val="27263031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357</TotalTime>
  <Words>454</Words>
  <Application>Microsoft Macintosh PowerPoint</Application>
  <PresentationFormat>Widescreen</PresentationFormat>
  <Paragraphs>45</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-webkit-standard</vt:lpstr>
      <vt:lpstr>Aptos</vt:lpstr>
      <vt:lpstr>Aptos Display</vt:lpstr>
      <vt:lpstr>Arial</vt:lpstr>
      <vt:lpstr>Times New Roman</vt:lpstr>
      <vt:lpstr>Office Theme</vt:lpstr>
      <vt:lpstr>Tourist Demand Prediction</vt:lpstr>
      <vt:lpstr> Introduction &amp; Motivation</vt:lpstr>
      <vt:lpstr>Objectives</vt:lpstr>
      <vt:lpstr>Literature Survey</vt:lpstr>
      <vt:lpstr>Proposed Methodology</vt:lpstr>
      <vt:lpstr>Implementation Steps</vt:lpstr>
      <vt:lpstr>Expected Results &amp; Deliverables</vt:lpstr>
      <vt:lpstr>Timeline</vt:lpstr>
      <vt:lpstr>OUTPUT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CHALLAGULLA HANSI .</dc:creator>
  <cp:lastModifiedBy>CHALLAGULLA HANSI .</cp:lastModifiedBy>
  <cp:revision>7</cp:revision>
  <dcterms:created xsi:type="dcterms:W3CDTF">2026-02-18T13:29:40Z</dcterms:created>
  <dcterms:modified xsi:type="dcterms:W3CDTF">2026-04-24T06:41:53Z</dcterms:modified>
</cp:coreProperties>
</file>